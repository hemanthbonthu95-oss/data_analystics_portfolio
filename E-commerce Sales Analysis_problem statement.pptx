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1" r:id="rId3"/>
    <p:sldId id="273" r:id="rId4"/>
    <p:sldId id="27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209FAB-6C4A-43EB-8112-E573ABB5A020}" v="11" dt="2026-09-19T10:01:22.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 Hemanth kumar" userId="9c2527416b60e7c1" providerId="LiveId" clId="{ECFADA9C-FC0A-45E6-9EA1-8661C87711E8}"/>
    <pc:docChg chg="undo custSel addSld modSld">
      <pc:chgData name="B Hemanth kumar" userId="9c2527416b60e7c1" providerId="LiveId" clId="{ECFADA9C-FC0A-45E6-9EA1-8661C87711E8}" dt="2026-09-19T10:03:47.037" v="1773" actId="20577"/>
      <pc:docMkLst>
        <pc:docMk/>
      </pc:docMkLst>
      <pc:sldChg chg="delSp modSp add mod">
        <pc:chgData name="B Hemanth kumar" userId="9c2527416b60e7c1" providerId="LiveId" clId="{ECFADA9C-FC0A-45E6-9EA1-8661C87711E8}" dt="2026-09-18T11:31:21.897" v="39" actId="478"/>
        <pc:sldMkLst>
          <pc:docMk/>
          <pc:sldMk cId="1866363835" sldId="273"/>
        </pc:sldMkLst>
        <pc:spChg chg="mod">
          <ac:chgData name="B Hemanth kumar" userId="9c2527416b60e7c1" providerId="LiveId" clId="{ECFADA9C-FC0A-45E6-9EA1-8661C87711E8}" dt="2026-09-18T11:30:55.568" v="33" actId="20577"/>
          <ac:spMkLst>
            <pc:docMk/>
            <pc:sldMk cId="1866363835" sldId="273"/>
            <ac:spMk id="2" creationId="{0853CBA3-AC3B-37C3-5BB4-095CFD01FF11}"/>
          </ac:spMkLst>
        </pc:spChg>
        <pc:spChg chg="mod">
          <ac:chgData name="B Hemanth kumar" userId="9c2527416b60e7c1" providerId="LiveId" clId="{ECFADA9C-FC0A-45E6-9EA1-8661C87711E8}" dt="2026-09-18T11:31:13.807" v="38" actId="20577"/>
          <ac:spMkLst>
            <pc:docMk/>
            <pc:sldMk cId="1866363835" sldId="273"/>
            <ac:spMk id="4" creationId="{4470EB94-33A9-55C4-8BD5-21E4CEE3CDD7}"/>
          </ac:spMkLst>
        </pc:spChg>
        <pc:spChg chg="del">
          <ac:chgData name="B Hemanth kumar" userId="9c2527416b60e7c1" providerId="LiveId" clId="{ECFADA9C-FC0A-45E6-9EA1-8661C87711E8}" dt="2026-09-18T11:31:21.897" v="39" actId="478"/>
          <ac:spMkLst>
            <pc:docMk/>
            <pc:sldMk cId="1866363835" sldId="273"/>
            <ac:spMk id="8" creationId="{E176FB73-E999-61CA-A4AA-0292CF41CC63}"/>
          </ac:spMkLst>
        </pc:spChg>
      </pc:sldChg>
      <pc:sldChg chg="modSp add mod">
        <pc:chgData name="B Hemanth kumar" userId="9c2527416b60e7c1" providerId="LiveId" clId="{ECFADA9C-FC0A-45E6-9EA1-8661C87711E8}" dt="2026-09-19T10:03:47.037" v="1773" actId="20577"/>
        <pc:sldMkLst>
          <pc:docMk/>
          <pc:sldMk cId="4095199307" sldId="274"/>
        </pc:sldMkLst>
        <pc:spChg chg="mod">
          <ac:chgData name="B Hemanth kumar" userId="9c2527416b60e7c1" providerId="LiveId" clId="{ECFADA9C-FC0A-45E6-9EA1-8661C87711E8}" dt="2026-09-18T12:20:09.259" v="61" actId="20577"/>
          <ac:spMkLst>
            <pc:docMk/>
            <pc:sldMk cId="4095199307" sldId="274"/>
            <ac:spMk id="2" creationId="{C9C975DB-EC8B-3470-5AF9-01370C2CE27B}"/>
          </ac:spMkLst>
        </pc:spChg>
        <pc:spChg chg="mod">
          <ac:chgData name="B Hemanth kumar" userId="9c2527416b60e7c1" providerId="LiveId" clId="{ECFADA9C-FC0A-45E6-9EA1-8661C87711E8}" dt="2026-09-19T10:03:47.037" v="1773" actId="20577"/>
          <ac:spMkLst>
            <pc:docMk/>
            <pc:sldMk cId="4095199307" sldId="274"/>
            <ac:spMk id="4" creationId="{A52BC56A-BCEC-C5A9-D522-F99394536EA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20233-C273-FC83-5BB7-AD0CEBC72D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84556C-2EBA-B36B-0B6C-970E5CE5B3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77CEA1-EA09-4121-0F67-37BA4C650AC4}"/>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5" name="Footer Placeholder 4">
            <a:extLst>
              <a:ext uri="{FF2B5EF4-FFF2-40B4-BE49-F238E27FC236}">
                <a16:creationId xmlns:a16="http://schemas.microsoft.com/office/drawing/2014/main" id="{7C597434-6952-E2C3-EE26-66C3F06487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66670F-BDDD-BA4B-87AD-FAD306F89C97}"/>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419598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2239-C24B-4D4C-D86F-4E4266ED57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09B4A7-D402-7BBF-68DA-977BEE8CCF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58126D-A58B-C1BE-81C9-75DCBBC3C2A4}"/>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5" name="Footer Placeholder 4">
            <a:extLst>
              <a:ext uri="{FF2B5EF4-FFF2-40B4-BE49-F238E27FC236}">
                <a16:creationId xmlns:a16="http://schemas.microsoft.com/office/drawing/2014/main" id="{D020106A-18D2-D128-42F3-2332AC060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31BD34-4688-833A-B3D7-2176C1B6E533}"/>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1786395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1F79A-510B-5E8C-9FB4-F140A7A067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BF9CC4-B1E7-33E8-94AC-9F01BEE89E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6B1803-8BC9-A0A0-921B-E70CA11486BC}"/>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5" name="Footer Placeholder 4">
            <a:extLst>
              <a:ext uri="{FF2B5EF4-FFF2-40B4-BE49-F238E27FC236}">
                <a16:creationId xmlns:a16="http://schemas.microsoft.com/office/drawing/2014/main" id="{008CB816-FD0C-7C22-ADA8-5D58A68D97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F5DB30-ADA5-2948-B072-2C1F0697285E}"/>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127815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1C1C-23F3-0043-8C46-2B0FC5B1C0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B122-DB3F-938A-9D98-EDCF12D559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067685-F581-11B7-59C8-F1C2B1E8F8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AE143B-67C9-D5A1-DB22-2BC5DC29E4F6}"/>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6" name="Footer Placeholder 5">
            <a:extLst>
              <a:ext uri="{FF2B5EF4-FFF2-40B4-BE49-F238E27FC236}">
                <a16:creationId xmlns:a16="http://schemas.microsoft.com/office/drawing/2014/main" id="{53189776-C353-7B5D-8873-A70DEFCDD6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3DF26B-0295-93E5-5851-2CA5B16C97AE}"/>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278324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CE3E6-0EE9-8F39-2516-4BF4481FB6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9D8712-CC2C-29A8-7487-B933F41433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A379B3-5034-5F97-A462-DAED132278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204201-F5E2-8A1A-BE78-AA07E8F0AD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7DA56-9AC5-CF20-C210-45D2D218BE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28A924-8C48-1ACF-0F4F-4EB2F7460455}"/>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8" name="Footer Placeholder 7">
            <a:extLst>
              <a:ext uri="{FF2B5EF4-FFF2-40B4-BE49-F238E27FC236}">
                <a16:creationId xmlns:a16="http://schemas.microsoft.com/office/drawing/2014/main" id="{744394BC-F000-1446-08B3-B1F62549B6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376D53-E876-4AFF-5967-334AFB541484}"/>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2778440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CE21-A2E0-0ACA-A05D-31F8A84B43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77E70C-5808-97BA-4E92-336ADFACD85E}"/>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4" name="Footer Placeholder 3">
            <a:extLst>
              <a:ext uri="{FF2B5EF4-FFF2-40B4-BE49-F238E27FC236}">
                <a16:creationId xmlns:a16="http://schemas.microsoft.com/office/drawing/2014/main" id="{8DADEF98-0861-FF0A-1DD4-BA7175BB40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14A54A-5AC4-675E-231D-D74EBD46555D}"/>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413929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65DFB5-121A-F805-3F0D-8B58D9910FD8}"/>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3" name="Footer Placeholder 2">
            <a:extLst>
              <a:ext uri="{FF2B5EF4-FFF2-40B4-BE49-F238E27FC236}">
                <a16:creationId xmlns:a16="http://schemas.microsoft.com/office/drawing/2014/main" id="{5A76FCEB-7DD2-AC15-CE94-15323C0501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77D4A6-76D7-4107-2022-F466A9C945F1}"/>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214393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C5C3-99F1-2057-C8E5-0F785BF5D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7C1274-FE5B-AE3D-CA77-9604CA71A1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5C5381F-4846-DEAD-FE88-410D8632C1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76F644-1967-7D4F-0C03-A76DD9988779}"/>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6" name="Footer Placeholder 5">
            <a:extLst>
              <a:ext uri="{FF2B5EF4-FFF2-40B4-BE49-F238E27FC236}">
                <a16:creationId xmlns:a16="http://schemas.microsoft.com/office/drawing/2014/main" id="{32BFD889-2876-E292-8D10-3DA49ADA2B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77EE06-8255-FF76-4304-A48866635300}"/>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88432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E5C72-83AA-8879-41AE-5527554E61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362B96D-86BC-AE8C-6BA4-7332C0FA16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529B58-2445-A736-ABA8-C6BCE731B2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25134-967D-D039-14AB-A191F74E9D56}"/>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6" name="Footer Placeholder 5">
            <a:extLst>
              <a:ext uri="{FF2B5EF4-FFF2-40B4-BE49-F238E27FC236}">
                <a16:creationId xmlns:a16="http://schemas.microsoft.com/office/drawing/2014/main" id="{24E5DD1C-FD57-4D02-E60D-CD792C8118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F83176-71AC-F53C-5692-06808529AC4C}"/>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3022575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C8E82-9B9C-A177-1AFB-1F6A138EB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04F5EB-3FF7-9BDF-6999-3AA2889A40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9D852-A049-DA2D-81C9-61139C10917C}"/>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5" name="Footer Placeholder 4">
            <a:extLst>
              <a:ext uri="{FF2B5EF4-FFF2-40B4-BE49-F238E27FC236}">
                <a16:creationId xmlns:a16="http://schemas.microsoft.com/office/drawing/2014/main" id="{54D1EFC6-60B0-3731-18E9-0CFF1D3FDF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B45A92-4745-9FE6-5428-E3F297C01114}"/>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3939328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3E948-38A6-CDB6-8FC7-9172A646CA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1B41E7-2ACB-4471-53C6-491BCF8BC3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37B15-3F5E-8D07-4723-0C17B88BDC3A}"/>
              </a:ext>
            </a:extLst>
          </p:cNvPr>
          <p:cNvSpPr>
            <a:spLocks noGrp="1"/>
          </p:cNvSpPr>
          <p:nvPr>
            <p:ph type="dt" sz="half" idx="10"/>
          </p:nvPr>
        </p:nvSpPr>
        <p:spPr/>
        <p:txBody>
          <a:bodyPr/>
          <a:lstStyle/>
          <a:p>
            <a:fld id="{DA9187C4-6641-48FD-91F4-C842C3B45D40}" type="datetimeFigureOut">
              <a:rPr lang="en-IN" smtClean="0"/>
              <a:t>19-09-2026</a:t>
            </a:fld>
            <a:endParaRPr lang="en-IN"/>
          </a:p>
        </p:txBody>
      </p:sp>
      <p:sp>
        <p:nvSpPr>
          <p:cNvPr id="5" name="Footer Placeholder 4">
            <a:extLst>
              <a:ext uri="{FF2B5EF4-FFF2-40B4-BE49-F238E27FC236}">
                <a16:creationId xmlns:a16="http://schemas.microsoft.com/office/drawing/2014/main" id="{D26715B8-DEC3-EAE3-5275-1815EFB08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9C4A79-C0D9-DD4A-77CE-1E8634B03F6A}"/>
              </a:ext>
            </a:extLst>
          </p:cNvPr>
          <p:cNvSpPr>
            <a:spLocks noGrp="1"/>
          </p:cNvSpPr>
          <p:nvPr>
            <p:ph type="sldNum" sz="quarter" idx="12"/>
          </p:nvPr>
        </p:nvSpPr>
        <p:spPr/>
        <p:txBody>
          <a:bodyPr/>
          <a:lstStyle/>
          <a:p>
            <a:fld id="{BE959427-52ED-46EE-8EB8-9F188493D6C2}" type="slidenum">
              <a:rPr lang="en-IN" smtClean="0"/>
              <a:t>‹#›</a:t>
            </a:fld>
            <a:endParaRPr lang="en-IN"/>
          </a:p>
        </p:txBody>
      </p:sp>
    </p:spTree>
    <p:extLst>
      <p:ext uri="{BB962C8B-B14F-4D97-AF65-F5344CB8AC3E}">
        <p14:creationId xmlns:p14="http://schemas.microsoft.com/office/powerpoint/2010/main" val="587988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32971C-E494-2E70-5218-079AA83480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66698C-DEA6-2801-3F26-987B8503EF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5B61D9-C5B6-053E-7757-F74B5047BE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9187C4-6641-48FD-91F4-C842C3B45D40}" type="datetimeFigureOut">
              <a:rPr lang="en-IN" smtClean="0"/>
              <a:t>19-09-2026</a:t>
            </a:fld>
            <a:endParaRPr lang="en-IN"/>
          </a:p>
        </p:txBody>
      </p:sp>
      <p:sp>
        <p:nvSpPr>
          <p:cNvPr id="5" name="Footer Placeholder 4">
            <a:extLst>
              <a:ext uri="{FF2B5EF4-FFF2-40B4-BE49-F238E27FC236}">
                <a16:creationId xmlns:a16="http://schemas.microsoft.com/office/drawing/2014/main" id="{8F446E34-0B49-A150-6DE5-7909EA5CF8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E75E9CF-1ECE-8536-14C8-A45BBB2F0C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959427-52ED-46EE-8EB8-9F188493D6C2}" type="slidenum">
              <a:rPr lang="en-IN" smtClean="0"/>
              <a:t>‹#›</a:t>
            </a:fld>
            <a:endParaRPr lang="en-IN"/>
          </a:p>
        </p:txBody>
      </p:sp>
    </p:spTree>
    <p:extLst>
      <p:ext uri="{BB962C8B-B14F-4D97-AF65-F5344CB8AC3E}">
        <p14:creationId xmlns:p14="http://schemas.microsoft.com/office/powerpoint/2010/main" val="220005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ABE02-ACB6-B164-2854-A64B74DA999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9D6837-AF6D-DABD-7DB0-7ABE6014A698}"/>
              </a:ext>
            </a:extLst>
          </p:cNvPr>
          <p:cNvPicPr>
            <a:picLocks noChangeAspect="1"/>
          </p:cNvPicPr>
          <p:nvPr/>
        </p:nvPicPr>
        <p:blipFill>
          <a:blip r:embed="rId2">
            <a:alphaModFix amt="93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1" y="0"/>
            <a:ext cx="12191211" cy="6858000"/>
          </a:xfrm>
          <a:prstGeom prst="rect">
            <a:avLst/>
          </a:prstGeom>
        </p:spPr>
      </p:pic>
      <p:sp>
        <p:nvSpPr>
          <p:cNvPr id="6" name="Rectangle 5">
            <a:extLst>
              <a:ext uri="{FF2B5EF4-FFF2-40B4-BE49-F238E27FC236}">
                <a16:creationId xmlns:a16="http://schemas.microsoft.com/office/drawing/2014/main" id="{0CED364B-28A9-E402-F9F3-6BB5903F0C1D}"/>
              </a:ext>
            </a:extLst>
          </p:cNvPr>
          <p:cNvSpPr/>
          <p:nvPr/>
        </p:nvSpPr>
        <p:spPr>
          <a:xfrm>
            <a:off x="0" y="0"/>
            <a:ext cx="12191210" cy="6858000"/>
          </a:xfrm>
          <a:prstGeom prst="rect">
            <a:avLst/>
          </a:prstGeom>
          <a:gradFill>
            <a:gsLst>
              <a:gs pos="0">
                <a:schemeClr val="tx1">
                  <a:lumMod val="95000"/>
                  <a:lumOff val="5000"/>
                  <a:alpha val="85000"/>
                </a:schemeClr>
              </a:gs>
              <a:gs pos="100000">
                <a:srgbClr val="5C2A08">
                  <a:alpha val="88000"/>
                </a:srgb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12220A13-D552-0854-C543-B5298BE1C8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73234" y="-291506"/>
            <a:ext cx="1518771" cy="1518771"/>
          </a:xfrm>
          <a:prstGeom prst="rect">
            <a:avLst/>
          </a:prstGeom>
        </p:spPr>
      </p:pic>
      <p:sp>
        <p:nvSpPr>
          <p:cNvPr id="2" name="TextBox 1">
            <a:extLst>
              <a:ext uri="{FF2B5EF4-FFF2-40B4-BE49-F238E27FC236}">
                <a16:creationId xmlns:a16="http://schemas.microsoft.com/office/drawing/2014/main" id="{39F202EF-4E6C-8B6F-A9AB-1F15D74B69CE}"/>
              </a:ext>
            </a:extLst>
          </p:cNvPr>
          <p:cNvSpPr txBox="1"/>
          <p:nvPr/>
        </p:nvSpPr>
        <p:spPr>
          <a:xfrm>
            <a:off x="2595516" y="465943"/>
            <a:ext cx="8648700" cy="707886"/>
          </a:xfrm>
          <a:prstGeom prst="rect">
            <a:avLst/>
          </a:prstGeom>
          <a:noFill/>
        </p:spPr>
        <p:txBody>
          <a:bodyPr wrap="square" rtlCol="0">
            <a:spAutoFit/>
          </a:bodyPr>
          <a:lstStyle/>
          <a:p>
            <a:pPr marL="0" marR="0" indent="0" algn="l">
              <a:spcBef>
                <a:spcPts val="600"/>
              </a:spcBef>
              <a:buNone/>
            </a:pPr>
            <a:r>
              <a:rPr lang="en-IN" sz="4000" b="1" i="0" spc="-68" dirty="0">
                <a:solidFill>
                  <a:schemeClr val="accent6">
                    <a:lumMod val="60000"/>
                    <a:lumOff val="40000"/>
                  </a:schemeClr>
                </a:solidFill>
                <a:effectLst/>
                <a:latin typeface="Inter"/>
              </a:rPr>
              <a:t>E-commerce Sales Analysis</a:t>
            </a:r>
          </a:p>
        </p:txBody>
      </p:sp>
      <p:sp>
        <p:nvSpPr>
          <p:cNvPr id="4" name="TextBox 3">
            <a:extLst>
              <a:ext uri="{FF2B5EF4-FFF2-40B4-BE49-F238E27FC236}">
                <a16:creationId xmlns:a16="http://schemas.microsoft.com/office/drawing/2014/main" id="{5FAFF702-4470-2ED6-90BB-51D15A0F121F}"/>
              </a:ext>
            </a:extLst>
          </p:cNvPr>
          <p:cNvSpPr txBox="1"/>
          <p:nvPr/>
        </p:nvSpPr>
        <p:spPr>
          <a:xfrm>
            <a:off x="327804" y="1673525"/>
            <a:ext cx="10248181" cy="454292"/>
          </a:xfrm>
          <a:prstGeom prst="rect">
            <a:avLst/>
          </a:prstGeom>
          <a:noFill/>
        </p:spPr>
        <p:txBody>
          <a:bodyPr wrap="square" rtlCol="0">
            <a:spAutoFit/>
          </a:bodyPr>
          <a:lstStyle/>
          <a:p>
            <a:pPr algn="l">
              <a:lnSpc>
                <a:spcPct val="150000"/>
              </a:lnSpc>
            </a:pPr>
            <a:endParaRPr lang="en-US" b="1" i="0" dirty="0">
              <a:solidFill>
                <a:schemeClr val="accent1">
                  <a:lumMod val="40000"/>
                  <a:lumOff val="60000"/>
                </a:schemeClr>
              </a:solidFill>
              <a:effectLst/>
              <a:latin typeface="Century Gothic" panose="020B0502020202020204" pitchFamily="34" charset="0"/>
            </a:endParaRPr>
          </a:p>
        </p:txBody>
      </p:sp>
      <p:sp>
        <p:nvSpPr>
          <p:cNvPr id="8" name="TextBox 7">
            <a:extLst>
              <a:ext uri="{FF2B5EF4-FFF2-40B4-BE49-F238E27FC236}">
                <a16:creationId xmlns:a16="http://schemas.microsoft.com/office/drawing/2014/main" id="{E894C77F-6CCD-A535-CBED-B37E2BC2B130}"/>
              </a:ext>
            </a:extLst>
          </p:cNvPr>
          <p:cNvSpPr txBox="1"/>
          <p:nvPr/>
        </p:nvSpPr>
        <p:spPr>
          <a:xfrm>
            <a:off x="327804" y="1942269"/>
            <a:ext cx="8648700" cy="477054"/>
          </a:xfrm>
          <a:prstGeom prst="rect">
            <a:avLst/>
          </a:prstGeom>
          <a:noFill/>
        </p:spPr>
        <p:txBody>
          <a:bodyPr wrap="square" rtlCol="0">
            <a:spAutoFit/>
          </a:bodyPr>
          <a:lstStyle/>
          <a:p>
            <a:r>
              <a:rPr lang="en-US" sz="2500" b="1" dirty="0">
                <a:solidFill>
                  <a:schemeClr val="accent6">
                    <a:lumMod val="60000"/>
                    <a:lumOff val="40000"/>
                  </a:schemeClr>
                </a:solidFill>
                <a:latin typeface="Century Gothic" panose="020B0502020202020204" pitchFamily="34" charset="0"/>
              </a:rPr>
              <a:t>D</a:t>
            </a:r>
            <a:r>
              <a:rPr lang="en-IN" sz="2500" b="1" dirty="0">
                <a:solidFill>
                  <a:schemeClr val="accent6">
                    <a:lumMod val="60000"/>
                    <a:lumOff val="40000"/>
                  </a:schemeClr>
                </a:solidFill>
                <a:latin typeface="Century Gothic" panose="020B0502020202020204" pitchFamily="34" charset="0"/>
              </a:rPr>
              <a:t>ATA Careers Data set</a:t>
            </a:r>
          </a:p>
        </p:txBody>
      </p:sp>
      <p:sp>
        <p:nvSpPr>
          <p:cNvPr id="11" name="TextBox 10">
            <a:extLst>
              <a:ext uri="{FF2B5EF4-FFF2-40B4-BE49-F238E27FC236}">
                <a16:creationId xmlns:a16="http://schemas.microsoft.com/office/drawing/2014/main" id="{963EB0C1-9A29-C131-4A73-5DD6959A9CF3}"/>
              </a:ext>
            </a:extLst>
          </p:cNvPr>
          <p:cNvSpPr txBox="1"/>
          <p:nvPr/>
        </p:nvSpPr>
        <p:spPr>
          <a:xfrm>
            <a:off x="885588" y="3086651"/>
            <a:ext cx="10248181" cy="2862322"/>
          </a:xfrm>
          <a:prstGeom prst="rect">
            <a:avLst/>
          </a:prstGeom>
          <a:noFill/>
        </p:spPr>
        <p:txBody>
          <a:bodyPr wrap="square" rtlCol="0">
            <a:spAutoFit/>
          </a:bodyPr>
          <a:lstStyle/>
          <a:p>
            <a:r>
              <a:rPr lang="en-IN" i="1" dirty="0">
                <a:solidFill>
                  <a:schemeClr val="accent6">
                    <a:lumMod val="60000"/>
                    <a:lumOff val="40000"/>
                  </a:schemeClr>
                </a:solidFill>
                <a:latin typeface="Segoe UI Semibold" panose="020B0702040204020203" pitchFamily="34" charset="0"/>
                <a:cs typeface="Segoe UI Semibold" panose="020B0702040204020203" pitchFamily="34" charset="0"/>
              </a:rPr>
              <a:t>Wayfair: Clean two years of online store orders and turn them into a clear sales review for next year's plan.</a:t>
            </a:r>
          </a:p>
          <a:p>
            <a:br>
              <a:rPr lang="en-IN" dirty="0">
                <a:solidFill>
                  <a:schemeClr val="accent6">
                    <a:lumMod val="60000"/>
                    <a:lumOff val="40000"/>
                  </a:schemeClr>
                </a:solidFill>
                <a:latin typeface="Segoe UI Semibold" panose="020B0702040204020203" pitchFamily="34" charset="0"/>
                <a:cs typeface="Segoe UI Semibold" panose="020B0702040204020203" pitchFamily="34" charset="0"/>
              </a:rPr>
            </a:br>
            <a:r>
              <a:rPr lang="en-IN" dirty="0">
                <a:solidFill>
                  <a:schemeClr val="accent6">
                    <a:lumMod val="60000"/>
                    <a:lumOff val="40000"/>
                  </a:schemeClr>
                </a:solidFill>
                <a:latin typeface="Segoe UI Semibold" panose="020B0702040204020203" pitchFamily="34" charset="0"/>
                <a:cs typeface="Segoe UI Semibold" panose="020B0702040204020203" pitchFamily="34" charset="0"/>
              </a:rPr>
              <a:t>	Wayfair sells furniture and home goods online across the US, from kitchenware and bedding to lighting and decor. You're a data analyst on the e-commerce team. The head of e-commerce is preparing next year's plan and wants an honest picture of how sales went in 2024 and 2025. The order data comes straight from an export, so it hasn't been checked or cleaned.</a:t>
            </a:r>
          </a:p>
          <a:p>
            <a:br>
              <a:rPr lang="en-US" b="1" i="0" dirty="0">
                <a:solidFill>
                  <a:schemeClr val="accent6">
                    <a:lumMod val="60000"/>
                    <a:lumOff val="40000"/>
                  </a:schemeClr>
                </a:solidFill>
                <a:effectLst/>
                <a:latin typeface="Century Gothic" panose="020B0502020202020204" pitchFamily="34" charset="0"/>
              </a:rPr>
            </a:br>
            <a:r>
              <a:rPr lang="en-US" b="1" i="0" dirty="0" err="1">
                <a:solidFill>
                  <a:schemeClr val="accent6">
                    <a:lumMod val="60000"/>
                    <a:lumOff val="40000"/>
                  </a:schemeClr>
                </a:solidFill>
                <a:effectLst/>
                <a:latin typeface="Century Gothic" panose="020B0502020202020204" pitchFamily="34" charset="0"/>
              </a:rPr>
              <a:t>TaSk</a:t>
            </a:r>
            <a:r>
              <a:rPr lang="en-US" b="1" i="0" dirty="0">
                <a:solidFill>
                  <a:schemeClr val="accent6">
                    <a:lumMod val="60000"/>
                    <a:lumOff val="40000"/>
                  </a:schemeClr>
                </a:solidFill>
                <a:effectLst/>
                <a:latin typeface="Century Gothic" panose="020B0502020202020204" pitchFamily="34" charset="0"/>
              </a:rPr>
              <a:t> -- </a:t>
            </a:r>
            <a:r>
              <a:rPr lang="en-IN" b="1" dirty="0">
                <a:solidFill>
                  <a:schemeClr val="accent6">
                    <a:lumMod val="60000"/>
                    <a:lumOff val="40000"/>
                  </a:schemeClr>
                </a:solidFill>
              </a:rPr>
              <a:t>Clean the store's order data, then build a short sales review that shows how revenue changed over the two years, what drove it, and where the business should focus next year.</a:t>
            </a:r>
            <a:endParaRPr lang="en-US" b="1" i="0" dirty="0">
              <a:solidFill>
                <a:schemeClr val="accent6">
                  <a:lumMod val="60000"/>
                  <a:lumOff val="40000"/>
                </a:schemeClr>
              </a:solidFill>
              <a:effectLst/>
              <a:latin typeface="Century Gothic" panose="020B0502020202020204" pitchFamily="34" charset="0"/>
            </a:endParaRPr>
          </a:p>
        </p:txBody>
      </p:sp>
    </p:spTree>
    <p:extLst>
      <p:ext uri="{BB962C8B-B14F-4D97-AF65-F5344CB8AC3E}">
        <p14:creationId xmlns:p14="http://schemas.microsoft.com/office/powerpoint/2010/main" val="2670611948"/>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EF7426-A82B-9F32-8383-9C7897B94358}"/>
              </a:ext>
            </a:extLst>
          </p:cNvPr>
          <p:cNvPicPr>
            <a:picLocks noChangeAspect="1"/>
          </p:cNvPicPr>
          <p:nvPr/>
        </p:nvPicPr>
        <p:blipFill>
          <a:blip r:embed="rId2">
            <a:alphaModFix amt="93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1" y="0"/>
            <a:ext cx="12191211" cy="6858000"/>
          </a:xfrm>
          <a:prstGeom prst="rect">
            <a:avLst/>
          </a:prstGeom>
        </p:spPr>
      </p:pic>
      <p:sp>
        <p:nvSpPr>
          <p:cNvPr id="6" name="Rectangle 5">
            <a:extLst>
              <a:ext uri="{FF2B5EF4-FFF2-40B4-BE49-F238E27FC236}">
                <a16:creationId xmlns:a16="http://schemas.microsoft.com/office/drawing/2014/main" id="{1B1A6F43-CE5A-E0B9-2D0D-B4542EC5881D}"/>
              </a:ext>
            </a:extLst>
          </p:cNvPr>
          <p:cNvSpPr/>
          <p:nvPr/>
        </p:nvSpPr>
        <p:spPr>
          <a:xfrm>
            <a:off x="0" y="0"/>
            <a:ext cx="12191210" cy="6858000"/>
          </a:xfrm>
          <a:prstGeom prst="rect">
            <a:avLst/>
          </a:prstGeom>
          <a:gradFill>
            <a:gsLst>
              <a:gs pos="0">
                <a:schemeClr val="tx1">
                  <a:lumMod val="95000"/>
                  <a:lumOff val="5000"/>
                  <a:alpha val="85000"/>
                </a:schemeClr>
              </a:gs>
              <a:gs pos="100000">
                <a:srgbClr val="5C2A08">
                  <a:alpha val="88000"/>
                </a:srgb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EE7A25B2-C3DE-C555-26AE-B05597FA7A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73234" y="-291506"/>
            <a:ext cx="1518771" cy="1518771"/>
          </a:xfrm>
          <a:prstGeom prst="rect">
            <a:avLst/>
          </a:prstGeom>
        </p:spPr>
      </p:pic>
      <p:sp>
        <p:nvSpPr>
          <p:cNvPr id="2" name="TextBox 1">
            <a:extLst>
              <a:ext uri="{FF2B5EF4-FFF2-40B4-BE49-F238E27FC236}">
                <a16:creationId xmlns:a16="http://schemas.microsoft.com/office/drawing/2014/main" id="{87632C60-16E5-C12E-7644-B668FC01872D}"/>
              </a:ext>
            </a:extLst>
          </p:cNvPr>
          <p:cNvSpPr txBox="1"/>
          <p:nvPr/>
        </p:nvSpPr>
        <p:spPr>
          <a:xfrm>
            <a:off x="327804" y="113936"/>
            <a:ext cx="8648700" cy="707886"/>
          </a:xfrm>
          <a:prstGeom prst="rect">
            <a:avLst/>
          </a:prstGeom>
          <a:noFill/>
        </p:spPr>
        <p:txBody>
          <a:bodyPr wrap="square" rtlCol="0">
            <a:spAutoFit/>
          </a:bodyPr>
          <a:lstStyle/>
          <a:p>
            <a:r>
              <a:rPr lang="en-IN" sz="4000" b="1" dirty="0">
                <a:solidFill>
                  <a:schemeClr val="accent3">
                    <a:lumMod val="60000"/>
                    <a:lumOff val="40000"/>
                  </a:schemeClr>
                </a:solidFill>
                <a:latin typeface="Lato Black" panose="020F0A02020204030203" pitchFamily="34" charset="0"/>
              </a:rPr>
              <a:t>PROBLEM STATEMENT</a:t>
            </a:r>
          </a:p>
        </p:txBody>
      </p:sp>
      <p:sp>
        <p:nvSpPr>
          <p:cNvPr id="4" name="TextBox 3">
            <a:extLst>
              <a:ext uri="{FF2B5EF4-FFF2-40B4-BE49-F238E27FC236}">
                <a16:creationId xmlns:a16="http://schemas.microsoft.com/office/drawing/2014/main" id="{4B23BDED-D892-65C9-F8DF-5ED226A60B6B}"/>
              </a:ext>
            </a:extLst>
          </p:cNvPr>
          <p:cNvSpPr txBox="1"/>
          <p:nvPr/>
        </p:nvSpPr>
        <p:spPr>
          <a:xfrm>
            <a:off x="327804" y="1673525"/>
            <a:ext cx="11248500" cy="4031873"/>
          </a:xfrm>
          <a:prstGeom prst="rect">
            <a:avLst/>
          </a:prstGeom>
          <a:noFill/>
        </p:spPr>
        <p:txBody>
          <a:bodyPr wrap="square" rtlCol="0">
            <a:spAutoFit/>
          </a:bodyPr>
          <a:lstStyle/>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1.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Load the four files and check each one for problems before you analyse anything, such as repeated records, inconsistent labels and missing values. Fix what you find and note every decision you made.</a:t>
            </a:r>
            <a:b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br>
            <a:endParaRPr lang="en-IN" sz="1600" dirty="0">
              <a:solidFill>
                <a:schemeClr val="tx2">
                  <a:lumMod val="10000"/>
                  <a:lumOff val="90000"/>
                </a:schemeClr>
              </a:solidFill>
              <a:latin typeface="Segoe UI Semibold" panose="020B0702040204020203" pitchFamily="34" charset="0"/>
              <a:cs typeface="Segoe UI Semibold" panose="020B0702040204020203" pitchFamily="34" charset="0"/>
            </a:endParaRPr>
          </a:p>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2.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Decide which orders count as revenue and how to calculate revenue for an order. Write your definition down so anyone reading your work can follow it.</a:t>
            </a:r>
            <a:b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br>
            <a:endParaRPr lang="en-IN" sz="1600" dirty="0">
              <a:solidFill>
                <a:schemeClr val="tx2">
                  <a:lumMod val="10000"/>
                  <a:lumOff val="90000"/>
                </a:schemeClr>
              </a:solidFill>
              <a:latin typeface="Segoe UI Semibold" panose="020B0702040204020203" pitchFamily="34" charset="0"/>
              <a:cs typeface="Segoe UI Semibold" panose="020B0702040204020203" pitchFamily="34" charset="0"/>
            </a:endParaRPr>
          </a:p>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3.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Show how revenue changed month by month and compare 2025 with 2024. Call out any seasonal patterns.</a:t>
            </a:r>
            <a:b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br>
            <a:endParaRPr lang="en-IN" sz="1600" dirty="0">
              <a:solidFill>
                <a:schemeClr val="tx2">
                  <a:lumMod val="10000"/>
                  <a:lumOff val="90000"/>
                </a:schemeClr>
              </a:solidFill>
              <a:latin typeface="Segoe UI Semibold" panose="020B0702040204020203" pitchFamily="34" charset="0"/>
              <a:cs typeface="Segoe UI Semibold" panose="020B0702040204020203" pitchFamily="34" charset="0"/>
            </a:endParaRPr>
          </a:p>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4.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Break revenue down by product category and find the best-selling products. Look at how the category mix changes through the year.</a:t>
            </a:r>
            <a:b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br>
            <a:endParaRPr lang="en-IN" sz="1600" dirty="0">
              <a:solidFill>
                <a:schemeClr val="tx2">
                  <a:lumMod val="10000"/>
                  <a:lumOff val="90000"/>
                </a:schemeClr>
              </a:solidFill>
              <a:latin typeface="Segoe UI Semibold" panose="020B0702040204020203" pitchFamily="34" charset="0"/>
              <a:cs typeface="Segoe UI Semibold" panose="020B0702040204020203" pitchFamily="34" charset="0"/>
            </a:endParaRPr>
          </a:p>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5.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Compare categories on how often their orders are returned or cancelled, and on average order value.</a:t>
            </a:r>
            <a:b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br>
            <a:endParaRPr lang="en-IN" sz="1600" dirty="0">
              <a:solidFill>
                <a:schemeClr val="tx2">
                  <a:lumMod val="10000"/>
                  <a:lumOff val="90000"/>
                </a:schemeClr>
              </a:solidFill>
              <a:latin typeface="Segoe UI Semibold" panose="020B0702040204020203" pitchFamily="34" charset="0"/>
              <a:cs typeface="Segoe UI Semibold" panose="020B0702040204020203" pitchFamily="34" charset="0"/>
            </a:endParaRPr>
          </a:p>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6.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Create at least three clear, labelled charts that support your main points.</a:t>
            </a:r>
            <a:b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br>
            <a:endParaRPr lang="en-IN" sz="1600" dirty="0">
              <a:solidFill>
                <a:schemeClr val="tx2">
                  <a:lumMod val="10000"/>
                  <a:lumOff val="90000"/>
                </a:schemeClr>
              </a:solidFill>
              <a:latin typeface="Segoe UI Semibold" panose="020B0702040204020203" pitchFamily="34" charset="0"/>
              <a:cs typeface="Segoe UI Semibold" panose="020B0702040204020203" pitchFamily="34" charset="0"/>
            </a:endParaRPr>
          </a:p>
          <a:p>
            <a:pPr lvl="0"/>
            <a:r>
              <a:rPr lang="en-IN" sz="1600" b="1" dirty="0">
                <a:solidFill>
                  <a:schemeClr val="tx2">
                    <a:lumMod val="10000"/>
                    <a:lumOff val="90000"/>
                  </a:schemeClr>
                </a:solidFill>
                <a:latin typeface="Segoe UI Semibold" panose="020B0702040204020203" pitchFamily="34" charset="0"/>
                <a:cs typeface="Segoe UI Semibold" panose="020B0702040204020203" pitchFamily="34" charset="0"/>
              </a:rPr>
              <a:t>7. </a:t>
            </a:r>
            <a:r>
              <a:rPr lang="en-IN" sz="1600" dirty="0">
                <a:solidFill>
                  <a:schemeClr val="tx2">
                    <a:lumMod val="10000"/>
                    <a:lumOff val="90000"/>
                  </a:schemeClr>
                </a:solidFill>
                <a:latin typeface="Segoe UI Semibold" panose="020B0702040204020203" pitchFamily="34" charset="0"/>
                <a:cs typeface="Segoe UI Semibold" panose="020B0702040204020203" pitchFamily="34" charset="0"/>
              </a:rPr>
              <a:t>Finish with a one-page summary: three key findings and two recommendations for next year's plan.</a:t>
            </a:r>
          </a:p>
        </p:txBody>
      </p:sp>
      <p:sp>
        <p:nvSpPr>
          <p:cNvPr id="8" name="TextBox 7">
            <a:extLst>
              <a:ext uri="{FF2B5EF4-FFF2-40B4-BE49-F238E27FC236}">
                <a16:creationId xmlns:a16="http://schemas.microsoft.com/office/drawing/2014/main" id="{86F61ED6-A436-445D-D4EE-1C965F354057}"/>
              </a:ext>
            </a:extLst>
          </p:cNvPr>
          <p:cNvSpPr txBox="1"/>
          <p:nvPr/>
        </p:nvSpPr>
        <p:spPr>
          <a:xfrm>
            <a:off x="327804" y="1065010"/>
            <a:ext cx="8648700" cy="477054"/>
          </a:xfrm>
          <a:prstGeom prst="rect">
            <a:avLst/>
          </a:prstGeom>
          <a:noFill/>
        </p:spPr>
        <p:txBody>
          <a:bodyPr wrap="square" rtlCol="0">
            <a:spAutoFit/>
          </a:bodyPr>
          <a:lstStyle/>
          <a:p>
            <a:r>
              <a:rPr lang="en-US" sz="2500" b="1" dirty="0">
                <a:solidFill>
                  <a:schemeClr val="accent6">
                    <a:lumMod val="60000"/>
                    <a:lumOff val="40000"/>
                  </a:schemeClr>
                </a:solidFill>
                <a:latin typeface="Century Gothic" panose="020B0502020202020204" pitchFamily="34" charset="0"/>
              </a:rPr>
              <a:t>I</a:t>
            </a:r>
            <a:r>
              <a:rPr lang="en-IN" sz="2500" b="1" dirty="0" err="1">
                <a:solidFill>
                  <a:schemeClr val="accent6">
                    <a:lumMod val="60000"/>
                    <a:lumOff val="40000"/>
                  </a:schemeClr>
                </a:solidFill>
                <a:latin typeface="Century Gothic" panose="020B0502020202020204" pitchFamily="34" charset="0"/>
              </a:rPr>
              <a:t>nstructions</a:t>
            </a:r>
            <a:endParaRPr lang="en-IN" sz="2500" b="1" dirty="0">
              <a:solidFill>
                <a:schemeClr val="accent6">
                  <a:lumMod val="60000"/>
                  <a:lumOff val="40000"/>
                </a:schemeClr>
              </a:solidFill>
              <a:latin typeface="Century Gothic" panose="020B0502020202020204" pitchFamily="34" charset="0"/>
            </a:endParaRPr>
          </a:p>
        </p:txBody>
      </p:sp>
    </p:spTree>
    <p:extLst>
      <p:ext uri="{BB962C8B-B14F-4D97-AF65-F5344CB8AC3E}">
        <p14:creationId xmlns:p14="http://schemas.microsoft.com/office/powerpoint/2010/main" val="2450672045"/>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CF3A-A36C-0CB0-F848-069915B442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D49805-2A8E-11E1-3EE0-6FBC889ED97C}"/>
              </a:ext>
            </a:extLst>
          </p:cNvPr>
          <p:cNvPicPr>
            <a:picLocks noChangeAspect="1"/>
          </p:cNvPicPr>
          <p:nvPr/>
        </p:nvPicPr>
        <p:blipFill>
          <a:blip r:embed="rId2">
            <a:alphaModFix amt="93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1" y="0"/>
            <a:ext cx="12191211" cy="6858000"/>
          </a:xfrm>
          <a:prstGeom prst="rect">
            <a:avLst/>
          </a:prstGeom>
        </p:spPr>
      </p:pic>
      <p:sp>
        <p:nvSpPr>
          <p:cNvPr id="6" name="Rectangle 5">
            <a:extLst>
              <a:ext uri="{FF2B5EF4-FFF2-40B4-BE49-F238E27FC236}">
                <a16:creationId xmlns:a16="http://schemas.microsoft.com/office/drawing/2014/main" id="{19AB5805-E740-0DFE-3A65-2FA1027B4265}"/>
              </a:ext>
            </a:extLst>
          </p:cNvPr>
          <p:cNvSpPr/>
          <p:nvPr/>
        </p:nvSpPr>
        <p:spPr>
          <a:xfrm>
            <a:off x="0" y="0"/>
            <a:ext cx="12191210" cy="6858000"/>
          </a:xfrm>
          <a:prstGeom prst="rect">
            <a:avLst/>
          </a:prstGeom>
          <a:gradFill>
            <a:gsLst>
              <a:gs pos="0">
                <a:schemeClr val="tx1">
                  <a:lumMod val="95000"/>
                  <a:lumOff val="5000"/>
                  <a:alpha val="85000"/>
                </a:schemeClr>
              </a:gs>
              <a:gs pos="100000">
                <a:srgbClr val="5C2A08">
                  <a:alpha val="88000"/>
                </a:srgb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A361E374-F294-3B01-98A9-5B42037E2F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73234" y="-291506"/>
            <a:ext cx="1518771" cy="1518771"/>
          </a:xfrm>
          <a:prstGeom prst="rect">
            <a:avLst/>
          </a:prstGeom>
        </p:spPr>
      </p:pic>
      <p:sp>
        <p:nvSpPr>
          <p:cNvPr id="2" name="TextBox 1">
            <a:extLst>
              <a:ext uri="{FF2B5EF4-FFF2-40B4-BE49-F238E27FC236}">
                <a16:creationId xmlns:a16="http://schemas.microsoft.com/office/drawing/2014/main" id="{0853CBA3-AC3B-37C3-5BB4-095CFD01FF11}"/>
              </a:ext>
            </a:extLst>
          </p:cNvPr>
          <p:cNvSpPr txBox="1"/>
          <p:nvPr/>
        </p:nvSpPr>
        <p:spPr>
          <a:xfrm>
            <a:off x="327804" y="113936"/>
            <a:ext cx="8648700" cy="707886"/>
          </a:xfrm>
          <a:prstGeom prst="rect">
            <a:avLst/>
          </a:prstGeom>
          <a:noFill/>
        </p:spPr>
        <p:txBody>
          <a:bodyPr wrap="square" rtlCol="0">
            <a:spAutoFit/>
          </a:bodyPr>
          <a:lstStyle/>
          <a:p>
            <a:r>
              <a:rPr lang="en-US" sz="4000" b="1" dirty="0">
                <a:solidFill>
                  <a:schemeClr val="accent3">
                    <a:lumMod val="60000"/>
                    <a:lumOff val="40000"/>
                  </a:schemeClr>
                </a:solidFill>
                <a:latin typeface="Lato Black" panose="020F0A02020204030203" pitchFamily="34" charset="0"/>
              </a:rPr>
              <a:t>Break down of Task</a:t>
            </a:r>
            <a:endParaRPr lang="en-IN" sz="4000" b="1" dirty="0">
              <a:solidFill>
                <a:schemeClr val="accent3">
                  <a:lumMod val="60000"/>
                  <a:lumOff val="40000"/>
                </a:schemeClr>
              </a:solidFill>
              <a:latin typeface="Lato Black" panose="020F0A02020204030203" pitchFamily="34" charset="0"/>
            </a:endParaRPr>
          </a:p>
        </p:txBody>
      </p:sp>
      <p:sp>
        <p:nvSpPr>
          <p:cNvPr id="4" name="TextBox 3">
            <a:extLst>
              <a:ext uri="{FF2B5EF4-FFF2-40B4-BE49-F238E27FC236}">
                <a16:creationId xmlns:a16="http://schemas.microsoft.com/office/drawing/2014/main" id="{4470EB94-33A9-55C4-8BD5-21E4CEE3CDD7}"/>
              </a:ext>
            </a:extLst>
          </p:cNvPr>
          <p:cNvSpPr txBox="1"/>
          <p:nvPr/>
        </p:nvSpPr>
        <p:spPr>
          <a:xfrm>
            <a:off x="327804" y="1673525"/>
            <a:ext cx="11248500" cy="4339650"/>
          </a:xfrm>
          <a:prstGeom prst="rect">
            <a:avLst/>
          </a:prstGeom>
          <a:noFill/>
        </p:spPr>
        <p:txBody>
          <a:bodyPr wrap="square" rtlCol="0">
            <a:spAutoFit/>
          </a:bodyPr>
          <a:lstStyle/>
          <a:p>
            <a:pPr lvl="0"/>
            <a:r>
              <a:rPr lang="en-IN" sz="1200" b="1" dirty="0">
                <a:solidFill>
                  <a:schemeClr val="tx2">
                    <a:lumMod val="10000"/>
                    <a:lumOff val="90000"/>
                  </a:schemeClr>
                </a:solidFill>
                <a:effectLst/>
              </a:rPr>
              <a:t>Data Cleaning</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Inspect all four files for issues: duplicates, missing values, inconsistent product/category names.</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Document every cleaning decision (e.g., how you handled nulls, merged categories, removed bad records).</a:t>
            </a:r>
            <a:endParaRPr lang="en-IN" sz="1200" dirty="0">
              <a:solidFill>
                <a:schemeClr val="tx2">
                  <a:lumMod val="10000"/>
                  <a:lumOff val="90000"/>
                </a:schemeClr>
              </a:solidFill>
            </a:endParaRPr>
          </a:p>
          <a:p>
            <a:pPr lvl="0"/>
            <a:r>
              <a:rPr lang="en-IN" sz="1200" b="1" dirty="0">
                <a:solidFill>
                  <a:schemeClr val="tx2">
                    <a:lumMod val="10000"/>
                    <a:lumOff val="90000"/>
                  </a:schemeClr>
                </a:solidFill>
                <a:effectLst/>
              </a:rPr>
              <a:t>Revenue Definition</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Decide what counts as revenue (e.g., exclude cancelled/returned orders).</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Define how to calculate revenue per order (e.g., </a:t>
            </a:r>
            <a:r>
              <a:rPr lang="en-IN" sz="1200" dirty="0">
                <a:solidFill>
                  <a:schemeClr val="tx2">
                    <a:lumMod val="10000"/>
                    <a:lumOff val="90000"/>
                  </a:schemeClr>
                </a:solidFill>
              </a:rPr>
              <a:t>Revenue = Quantity × Price – Discounts</a:t>
            </a:r>
            <a:r>
              <a:rPr lang="en-IN" sz="1200" dirty="0">
                <a:solidFill>
                  <a:schemeClr val="tx2">
                    <a:lumMod val="10000"/>
                    <a:lumOff val="90000"/>
                  </a:schemeClr>
                </a:solidFill>
                <a:effectLst/>
              </a:rPr>
              <a:t>).</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Write this definition clearly so others can follow your logic.</a:t>
            </a:r>
            <a:endParaRPr lang="en-IN" sz="1200" dirty="0">
              <a:solidFill>
                <a:schemeClr val="tx2">
                  <a:lumMod val="10000"/>
                  <a:lumOff val="90000"/>
                </a:schemeClr>
              </a:solidFill>
            </a:endParaRPr>
          </a:p>
          <a:p>
            <a:pPr lvl="0"/>
            <a:r>
              <a:rPr lang="en-IN" sz="1200" b="1" dirty="0">
                <a:solidFill>
                  <a:schemeClr val="tx2">
                    <a:lumMod val="10000"/>
                    <a:lumOff val="90000"/>
                  </a:schemeClr>
                </a:solidFill>
                <a:effectLst/>
              </a:rPr>
              <a:t>Trend Analysis</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Show revenue month by month for 2024 vs 2025.</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Highlight seasonal peaks (holidays, summer sales, etc.).</a:t>
            </a:r>
            <a:endParaRPr lang="en-IN" sz="1200" dirty="0">
              <a:solidFill>
                <a:schemeClr val="tx2">
                  <a:lumMod val="10000"/>
                  <a:lumOff val="90000"/>
                </a:schemeClr>
              </a:solidFill>
            </a:endParaRPr>
          </a:p>
          <a:p>
            <a:pPr lvl="0"/>
            <a:r>
              <a:rPr lang="en-IN" sz="1200" b="1" dirty="0">
                <a:solidFill>
                  <a:schemeClr val="tx2">
                    <a:lumMod val="10000"/>
                    <a:lumOff val="90000"/>
                  </a:schemeClr>
                </a:solidFill>
                <a:effectLst/>
              </a:rPr>
              <a:t>Category &amp; Product Insights</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Break down revenue by product category (furniture, bedding, lighting, etc.).</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Identify best‑selling products.</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Show how the category mix shifts across the year.</a:t>
            </a:r>
            <a:endParaRPr lang="en-IN" sz="1200" dirty="0">
              <a:solidFill>
                <a:schemeClr val="tx2">
                  <a:lumMod val="10000"/>
                  <a:lumOff val="90000"/>
                </a:schemeClr>
              </a:solidFill>
            </a:endParaRPr>
          </a:p>
          <a:p>
            <a:pPr lvl="0"/>
            <a:r>
              <a:rPr lang="en-IN" sz="1200" b="1" dirty="0">
                <a:solidFill>
                  <a:schemeClr val="tx2">
                    <a:lumMod val="10000"/>
                    <a:lumOff val="90000"/>
                  </a:schemeClr>
                </a:solidFill>
                <a:effectLst/>
              </a:rPr>
              <a:t>Returns &amp; Order Value</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Compare categories by return/cancellation rates.</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Compare average order values across categories.</a:t>
            </a:r>
            <a:endParaRPr lang="en-IN" sz="1200" dirty="0">
              <a:solidFill>
                <a:schemeClr val="tx2">
                  <a:lumMod val="10000"/>
                  <a:lumOff val="90000"/>
                </a:schemeClr>
              </a:solidFill>
            </a:endParaRPr>
          </a:p>
          <a:p>
            <a:pPr lvl="0"/>
            <a:r>
              <a:rPr lang="en-IN" sz="1200" b="1" dirty="0">
                <a:solidFill>
                  <a:schemeClr val="tx2">
                    <a:lumMod val="10000"/>
                    <a:lumOff val="90000"/>
                  </a:schemeClr>
                </a:solidFill>
                <a:effectLst/>
              </a:rPr>
              <a:t>Visualization</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Create at least 3 clear charts (e.g., revenue trend line, category revenue bar chart, return rate comparison).</a:t>
            </a:r>
            <a:endParaRPr lang="en-IN" sz="1200" dirty="0">
              <a:solidFill>
                <a:schemeClr val="tx2">
                  <a:lumMod val="10000"/>
                  <a:lumOff val="90000"/>
                </a:schemeClr>
              </a:solidFill>
            </a:endParaRPr>
          </a:p>
          <a:p>
            <a:pPr lvl="0"/>
            <a:r>
              <a:rPr lang="en-IN" sz="1200" b="1" dirty="0">
                <a:solidFill>
                  <a:schemeClr val="tx2">
                    <a:lumMod val="10000"/>
                    <a:lumOff val="90000"/>
                  </a:schemeClr>
                </a:solidFill>
                <a:effectLst/>
              </a:rPr>
              <a:t>Executive Summary</a:t>
            </a:r>
            <a:endParaRPr lang="en-IN" sz="1200" dirty="0">
              <a:solidFill>
                <a:schemeClr val="tx2">
                  <a:lumMod val="10000"/>
                  <a:lumOff val="90000"/>
                </a:schemeClr>
              </a:solidFill>
            </a:endParaRPr>
          </a:p>
          <a:p>
            <a:pPr lvl="1"/>
            <a:r>
              <a:rPr lang="en-IN" sz="1200" dirty="0">
                <a:solidFill>
                  <a:schemeClr val="tx2">
                    <a:lumMod val="10000"/>
                    <a:lumOff val="90000"/>
                  </a:schemeClr>
                </a:solidFill>
                <a:effectLst/>
              </a:rPr>
              <a:t>End with a one‑page summary:</a:t>
            </a:r>
            <a:endParaRPr lang="en-IN" sz="1200" dirty="0">
              <a:solidFill>
                <a:schemeClr val="tx2">
                  <a:lumMod val="10000"/>
                  <a:lumOff val="90000"/>
                </a:schemeClr>
              </a:solidFill>
            </a:endParaRPr>
          </a:p>
          <a:p>
            <a:pPr lvl="2"/>
            <a:r>
              <a:rPr lang="en-IN" sz="1200" b="1" dirty="0">
                <a:solidFill>
                  <a:schemeClr val="tx2">
                    <a:lumMod val="10000"/>
                    <a:lumOff val="90000"/>
                  </a:schemeClr>
                </a:solidFill>
                <a:effectLst/>
              </a:rPr>
              <a:t>3 key findings</a:t>
            </a:r>
            <a:r>
              <a:rPr lang="en-IN" sz="1200" dirty="0">
                <a:solidFill>
                  <a:schemeClr val="tx2">
                    <a:lumMod val="10000"/>
                    <a:lumOff val="90000"/>
                  </a:schemeClr>
                </a:solidFill>
                <a:effectLst/>
              </a:rPr>
              <a:t> (e.g., revenue grew 12% in 2025, furniture drove most growth, bedding had high returns).</a:t>
            </a:r>
            <a:endParaRPr lang="en-IN" sz="1200" dirty="0">
              <a:solidFill>
                <a:schemeClr val="tx2">
                  <a:lumMod val="10000"/>
                  <a:lumOff val="90000"/>
                </a:schemeClr>
              </a:solidFill>
            </a:endParaRPr>
          </a:p>
          <a:p>
            <a:pPr lvl="2"/>
            <a:r>
              <a:rPr lang="en-IN" sz="1200" b="1" dirty="0">
                <a:solidFill>
                  <a:schemeClr val="tx2">
                    <a:lumMod val="10000"/>
                    <a:lumOff val="90000"/>
                  </a:schemeClr>
                </a:solidFill>
                <a:effectLst/>
              </a:rPr>
              <a:t>2 recommendations</a:t>
            </a:r>
            <a:r>
              <a:rPr lang="en-IN" sz="1200" dirty="0">
                <a:solidFill>
                  <a:schemeClr val="tx2">
                    <a:lumMod val="10000"/>
                    <a:lumOff val="90000"/>
                  </a:schemeClr>
                </a:solidFill>
                <a:effectLst/>
              </a:rPr>
              <a:t> (e.g., focus marketing on furniture, improve quality/returns in bedding).</a:t>
            </a:r>
            <a:endParaRPr lang="en-IN" sz="1200" dirty="0">
              <a:solidFill>
                <a:schemeClr val="tx2">
                  <a:lumMod val="10000"/>
                  <a:lumOff val="90000"/>
                </a:schemeClr>
              </a:solidFill>
            </a:endParaRPr>
          </a:p>
        </p:txBody>
      </p:sp>
    </p:spTree>
    <p:extLst>
      <p:ext uri="{BB962C8B-B14F-4D97-AF65-F5344CB8AC3E}">
        <p14:creationId xmlns:p14="http://schemas.microsoft.com/office/powerpoint/2010/main" val="186636383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D866D-961D-083E-A73A-49C649EA141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2F899C2-1B22-2BFF-E479-F895BCB5AF93}"/>
              </a:ext>
            </a:extLst>
          </p:cNvPr>
          <p:cNvPicPr>
            <a:picLocks noChangeAspect="1"/>
          </p:cNvPicPr>
          <p:nvPr/>
        </p:nvPicPr>
        <p:blipFill>
          <a:blip r:embed="rId2">
            <a:alphaModFix amt="93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1" y="0"/>
            <a:ext cx="12191211" cy="6858000"/>
          </a:xfrm>
          <a:prstGeom prst="rect">
            <a:avLst/>
          </a:prstGeom>
        </p:spPr>
      </p:pic>
      <p:sp>
        <p:nvSpPr>
          <p:cNvPr id="6" name="Rectangle 5">
            <a:extLst>
              <a:ext uri="{FF2B5EF4-FFF2-40B4-BE49-F238E27FC236}">
                <a16:creationId xmlns:a16="http://schemas.microsoft.com/office/drawing/2014/main" id="{A52F3456-37AC-D528-23D3-DE0145A54678}"/>
              </a:ext>
            </a:extLst>
          </p:cNvPr>
          <p:cNvSpPr/>
          <p:nvPr/>
        </p:nvSpPr>
        <p:spPr>
          <a:xfrm>
            <a:off x="0" y="0"/>
            <a:ext cx="12191210" cy="6858000"/>
          </a:xfrm>
          <a:prstGeom prst="rect">
            <a:avLst/>
          </a:prstGeom>
          <a:gradFill>
            <a:gsLst>
              <a:gs pos="0">
                <a:schemeClr val="tx1">
                  <a:lumMod val="95000"/>
                  <a:lumOff val="5000"/>
                  <a:alpha val="85000"/>
                </a:schemeClr>
              </a:gs>
              <a:gs pos="100000">
                <a:srgbClr val="5C2A08">
                  <a:alpha val="88000"/>
                </a:srgb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1601D06B-4D1F-E8EE-8A68-30DDF74B7F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73234" y="-291506"/>
            <a:ext cx="1518771" cy="1518771"/>
          </a:xfrm>
          <a:prstGeom prst="rect">
            <a:avLst/>
          </a:prstGeom>
        </p:spPr>
      </p:pic>
      <p:sp>
        <p:nvSpPr>
          <p:cNvPr id="2" name="TextBox 1">
            <a:extLst>
              <a:ext uri="{FF2B5EF4-FFF2-40B4-BE49-F238E27FC236}">
                <a16:creationId xmlns:a16="http://schemas.microsoft.com/office/drawing/2014/main" id="{C9C975DB-EC8B-3470-5AF9-01370C2CE27B}"/>
              </a:ext>
            </a:extLst>
          </p:cNvPr>
          <p:cNvSpPr txBox="1"/>
          <p:nvPr/>
        </p:nvSpPr>
        <p:spPr>
          <a:xfrm>
            <a:off x="327804" y="113936"/>
            <a:ext cx="8648700" cy="707886"/>
          </a:xfrm>
          <a:prstGeom prst="rect">
            <a:avLst/>
          </a:prstGeom>
          <a:noFill/>
        </p:spPr>
        <p:txBody>
          <a:bodyPr wrap="square" rtlCol="0">
            <a:spAutoFit/>
          </a:bodyPr>
          <a:lstStyle/>
          <a:p>
            <a:r>
              <a:rPr lang="en-US" sz="4000" b="1" dirty="0">
                <a:solidFill>
                  <a:schemeClr val="accent3">
                    <a:lumMod val="60000"/>
                    <a:lumOff val="40000"/>
                  </a:schemeClr>
                </a:solidFill>
                <a:latin typeface="Lato Black" panose="020F0A02020204030203" pitchFamily="34" charset="0"/>
              </a:rPr>
              <a:t>Data Cleaning </a:t>
            </a:r>
            <a:endParaRPr lang="en-IN" sz="4000" b="1" dirty="0">
              <a:solidFill>
                <a:schemeClr val="accent3">
                  <a:lumMod val="60000"/>
                  <a:lumOff val="40000"/>
                </a:schemeClr>
              </a:solidFill>
              <a:latin typeface="Lato Black" panose="020F0A02020204030203" pitchFamily="34" charset="0"/>
            </a:endParaRPr>
          </a:p>
        </p:txBody>
      </p:sp>
      <p:sp>
        <p:nvSpPr>
          <p:cNvPr id="4" name="TextBox 3">
            <a:extLst>
              <a:ext uri="{FF2B5EF4-FFF2-40B4-BE49-F238E27FC236}">
                <a16:creationId xmlns:a16="http://schemas.microsoft.com/office/drawing/2014/main" id="{A52BC56A-BCEC-C5A9-D522-F99394536EA0}"/>
              </a:ext>
            </a:extLst>
          </p:cNvPr>
          <p:cNvSpPr txBox="1"/>
          <p:nvPr/>
        </p:nvSpPr>
        <p:spPr>
          <a:xfrm>
            <a:off x="327804" y="1673525"/>
            <a:ext cx="11248500" cy="5539978"/>
          </a:xfrm>
          <a:prstGeom prst="rect">
            <a:avLst/>
          </a:prstGeom>
          <a:noFill/>
        </p:spPr>
        <p:txBody>
          <a:bodyPr wrap="square" rtlCol="0">
            <a:spAutoFit/>
          </a:bodyPr>
          <a:lstStyle/>
          <a:p>
            <a:pPr marL="171450" lvl="0" indent="-171450">
              <a:buFont typeface="Wingdings" panose="05000000000000000000" pitchFamily="2" charset="2"/>
              <a:buChar char="Ø"/>
            </a:pPr>
            <a:r>
              <a:rPr lang="en-IN" sz="1200" b="1" dirty="0">
                <a:solidFill>
                  <a:schemeClr val="tx2">
                    <a:lumMod val="10000"/>
                    <a:lumOff val="90000"/>
                  </a:schemeClr>
                </a:solidFill>
                <a:effectLst/>
              </a:rPr>
              <a:t>Data Cleaning (Note all the data cleaning is done in power query editor after loading the data)</a:t>
            </a:r>
            <a:br>
              <a:rPr lang="en-IN" sz="1200" b="1" dirty="0">
                <a:solidFill>
                  <a:schemeClr val="tx2">
                    <a:lumMod val="10000"/>
                    <a:lumOff val="90000"/>
                  </a:schemeClr>
                </a:solidFill>
                <a:effectLst/>
              </a:rPr>
            </a:br>
            <a:r>
              <a:rPr lang="en-IN" sz="1200" b="1" dirty="0">
                <a:solidFill>
                  <a:schemeClr val="tx2">
                    <a:lumMod val="10000"/>
                    <a:lumOff val="90000"/>
                  </a:schemeClr>
                </a:solidFill>
                <a:effectLst/>
              </a:rPr>
              <a:t>	1. </a:t>
            </a:r>
            <a:r>
              <a:rPr lang="en-IN" sz="1200" b="1" dirty="0">
                <a:solidFill>
                  <a:schemeClr val="tx2">
                    <a:lumMod val="10000"/>
                    <a:lumOff val="90000"/>
                  </a:schemeClr>
                </a:solidFill>
              </a:rPr>
              <a:t>Inappropriate values in the product table category column like some value in capitals other in small and mixed.</a:t>
            </a:r>
            <a:br>
              <a:rPr lang="en-IN" sz="1200" b="1" dirty="0">
                <a:solidFill>
                  <a:schemeClr val="tx2">
                    <a:lumMod val="10000"/>
                    <a:lumOff val="90000"/>
                  </a:schemeClr>
                </a:solidFill>
              </a:rPr>
            </a:br>
            <a:br>
              <a:rPr lang="en-IN" sz="1200" b="1" dirty="0">
                <a:solidFill>
                  <a:schemeClr val="tx2">
                    <a:lumMod val="10000"/>
                    <a:lumOff val="90000"/>
                  </a:schemeClr>
                </a:solidFill>
              </a:rPr>
            </a:br>
            <a:r>
              <a:rPr lang="en-IN" sz="1200" b="1" dirty="0">
                <a:solidFill>
                  <a:schemeClr val="tx2">
                    <a:lumMod val="10000"/>
                    <a:lumOff val="90000"/>
                  </a:schemeClr>
                </a:solidFill>
              </a:rPr>
              <a:t>	</a:t>
            </a:r>
            <a:r>
              <a:rPr lang="en-IN" sz="1200" b="1" dirty="0">
                <a:solidFill>
                  <a:srgbClr val="92D050"/>
                </a:solidFill>
              </a:rPr>
              <a:t>Solution-Select the column Under Transform Tab select “Format” then select “Capitalize Each Word”.</a:t>
            </a:r>
            <a:br>
              <a:rPr lang="en-IN" sz="1200" b="1" dirty="0">
                <a:solidFill>
                  <a:srgbClr val="92D050"/>
                </a:solidFill>
              </a:rPr>
            </a:br>
            <a:br>
              <a:rPr lang="en-IN" sz="1200" b="1" dirty="0">
                <a:solidFill>
                  <a:schemeClr val="tx2">
                    <a:lumMod val="10000"/>
                    <a:lumOff val="90000"/>
                  </a:schemeClr>
                </a:solidFill>
                <a:effectLst/>
              </a:rPr>
            </a:br>
            <a:r>
              <a:rPr lang="en-IN" sz="1200" b="1" dirty="0">
                <a:solidFill>
                  <a:schemeClr val="tx2">
                    <a:lumMod val="10000"/>
                    <a:lumOff val="90000"/>
                  </a:schemeClr>
                </a:solidFill>
                <a:effectLst/>
              </a:rPr>
              <a:t>	2. After importing the </a:t>
            </a:r>
            <a:r>
              <a:rPr lang="en-IN" sz="1200" b="1" dirty="0">
                <a:solidFill>
                  <a:schemeClr val="tx2">
                    <a:lumMod val="10000"/>
                    <a:lumOff val="90000"/>
                  </a:schemeClr>
                </a:solidFill>
              </a:rPr>
              <a:t>orders table into Power query editor I found the unit price for some orders with products are “Null” also the prices are not stable . So to remove null We have the Products table which is a master table for  the stable product price</a:t>
            </a:r>
            <a:br>
              <a:rPr lang="en-IN" sz="1200" b="1" dirty="0">
                <a:solidFill>
                  <a:schemeClr val="tx2">
                    <a:lumMod val="10000"/>
                    <a:lumOff val="90000"/>
                  </a:schemeClr>
                </a:solidFill>
              </a:rPr>
            </a:br>
            <a:br>
              <a:rPr lang="en-IN" sz="1200" b="1" dirty="0">
                <a:solidFill>
                  <a:schemeClr val="tx2">
                    <a:lumMod val="10000"/>
                    <a:lumOff val="90000"/>
                  </a:schemeClr>
                </a:solidFill>
              </a:rPr>
            </a:br>
            <a:r>
              <a:rPr lang="en-IN" sz="1200" b="1" dirty="0">
                <a:solidFill>
                  <a:schemeClr val="tx2">
                    <a:lumMod val="10000"/>
                    <a:lumOff val="90000"/>
                  </a:schemeClr>
                </a:solidFill>
              </a:rPr>
              <a:t>	</a:t>
            </a:r>
            <a:r>
              <a:rPr lang="en-IN" sz="1200" b="1" dirty="0">
                <a:solidFill>
                  <a:srgbClr val="92D050"/>
                </a:solidFill>
              </a:rPr>
              <a:t>Solution- here list price is considered as order price .Merge the orders table with products table on </a:t>
            </a:r>
            <a:r>
              <a:rPr lang="en-IN" sz="1200" b="1" dirty="0" err="1">
                <a:solidFill>
                  <a:srgbClr val="92D050"/>
                </a:solidFill>
              </a:rPr>
              <a:t>product_Id</a:t>
            </a:r>
            <a:r>
              <a:rPr lang="en-IN" sz="1200" b="1" dirty="0">
                <a:solidFill>
                  <a:srgbClr val="92D050"/>
                </a:solidFill>
              </a:rPr>
              <a:t> left outer join have only ‘value list Price” column from product table in the orders table Then add a “conditional column” with condition If </a:t>
            </a:r>
            <a:r>
              <a:rPr lang="en-IN" sz="1200" b="1" dirty="0" err="1">
                <a:solidFill>
                  <a:srgbClr val="92D050"/>
                </a:solidFill>
              </a:rPr>
              <a:t>orders.unit_price</a:t>
            </a:r>
            <a:r>
              <a:rPr lang="en-IN" sz="1200" b="1" dirty="0">
                <a:solidFill>
                  <a:srgbClr val="92D050"/>
                </a:solidFill>
              </a:rPr>
              <a:t> is null then “</a:t>
            </a:r>
            <a:r>
              <a:rPr lang="en-IN" sz="1200" b="1" dirty="0" err="1">
                <a:solidFill>
                  <a:srgbClr val="92D050"/>
                </a:solidFill>
              </a:rPr>
              <a:t>value.listprice</a:t>
            </a:r>
            <a:r>
              <a:rPr lang="en-IN" sz="1200" b="1" dirty="0">
                <a:solidFill>
                  <a:srgbClr val="92D050"/>
                </a:solidFill>
              </a:rPr>
              <a:t>” else </a:t>
            </a:r>
            <a:r>
              <a:rPr lang="en-IN" sz="1200" b="1" dirty="0" err="1">
                <a:solidFill>
                  <a:srgbClr val="92D050"/>
                </a:solidFill>
              </a:rPr>
              <a:t>unit_price</a:t>
            </a:r>
            <a:r>
              <a:rPr lang="en-IN" sz="1200" b="1" dirty="0">
                <a:solidFill>
                  <a:srgbClr val="92D050"/>
                </a:solidFill>
              </a:rPr>
              <a:t> (note under condition select t</a:t>
            </a:r>
            <a:br>
              <a:rPr lang="en-IN" sz="1200" b="1" dirty="0">
                <a:solidFill>
                  <a:srgbClr val="92D050"/>
                </a:solidFill>
              </a:rPr>
            </a:br>
            <a:r>
              <a:rPr lang="en-IN" sz="1200" b="1" dirty="0">
                <a:solidFill>
                  <a:srgbClr val="92D050"/>
                </a:solidFill>
              </a:rPr>
              <a:t>	columns not values ).</a:t>
            </a:r>
            <a:br>
              <a:rPr lang="en-IN" sz="1200" b="1" dirty="0">
                <a:solidFill>
                  <a:srgbClr val="92D050"/>
                </a:solidFill>
              </a:rPr>
            </a:br>
            <a:r>
              <a:rPr lang="en-IN" sz="1200" b="1" dirty="0">
                <a:solidFill>
                  <a:srgbClr val="92D050"/>
                </a:solidFill>
              </a:rPr>
              <a:t>	</a:t>
            </a:r>
            <a:r>
              <a:rPr lang="en-IN" sz="1200" b="1" dirty="0">
                <a:solidFill>
                  <a:srgbClr val="0E2841">
                    <a:lumMod val="10000"/>
                    <a:lumOff val="90000"/>
                  </a:srgbClr>
                </a:solidFill>
                <a:latin typeface="Aptos" panose="02110004020202020204"/>
              </a:rPr>
              <a:t>3.</a:t>
            </a:r>
            <a:r>
              <a:rPr kumimoji="0" lang="en-IN" sz="1200" b="1" i="0" u="none" strike="noStrike" kern="1200" cap="none" spc="0" normalizeH="0" baseline="0" noProof="0" dirty="0">
                <a:ln>
                  <a:noFill/>
                </a:ln>
                <a:solidFill>
                  <a:srgbClr val="0E2841">
                    <a:lumMod val="10000"/>
                    <a:lumOff val="90000"/>
                  </a:srgbClr>
                </a:solidFill>
                <a:effectLst/>
                <a:uLnTx/>
                <a:uFillTx/>
                <a:latin typeface="Aptos" panose="02110004020202020204"/>
                <a:ea typeface="+mn-ea"/>
                <a:cs typeface="+mn-cs"/>
              </a:rPr>
              <a:t> Add the date column in the </a:t>
            </a:r>
            <a:r>
              <a:rPr kumimoji="0" lang="en-IN" sz="1200" b="1" i="0" u="none" strike="noStrike" kern="1200" cap="none" spc="0" normalizeH="0" baseline="0" noProof="0" dirty="0" err="1">
                <a:ln>
                  <a:noFill/>
                </a:ln>
                <a:solidFill>
                  <a:srgbClr val="0E2841">
                    <a:lumMod val="10000"/>
                    <a:lumOff val="90000"/>
                  </a:srgbClr>
                </a:solidFill>
                <a:effectLst/>
                <a:uLnTx/>
                <a:uFillTx/>
                <a:latin typeface="Aptos" panose="02110004020202020204"/>
                <a:ea typeface="+mn-ea"/>
                <a:cs typeface="+mn-cs"/>
              </a:rPr>
              <a:t>Order_items</a:t>
            </a:r>
            <a:r>
              <a:rPr kumimoji="0" lang="en-IN" sz="1200" b="1" i="0" u="none" strike="noStrike" kern="1200" cap="none" spc="0" normalizeH="0" baseline="0" noProof="0" dirty="0">
                <a:ln>
                  <a:noFill/>
                </a:ln>
                <a:solidFill>
                  <a:srgbClr val="0E2841">
                    <a:lumMod val="10000"/>
                    <a:lumOff val="90000"/>
                  </a:srgbClr>
                </a:solidFill>
                <a:effectLst/>
                <a:uLnTx/>
                <a:uFillTx/>
                <a:latin typeface="Aptos" panose="02110004020202020204"/>
                <a:ea typeface="+mn-ea"/>
                <a:cs typeface="+mn-cs"/>
              </a:rPr>
              <a:t> table by merging it from orders table and then create relationship with </a:t>
            </a:r>
            <a:r>
              <a:rPr kumimoji="0" lang="en-IN" sz="1200" b="1" i="0" u="none" strike="noStrike" kern="1200" cap="none" spc="0" normalizeH="0" baseline="0" noProof="0" dirty="0" err="1">
                <a:ln>
                  <a:noFill/>
                </a:ln>
                <a:solidFill>
                  <a:srgbClr val="0E2841">
                    <a:lumMod val="10000"/>
                    <a:lumOff val="90000"/>
                  </a:srgbClr>
                </a:solidFill>
                <a:effectLst/>
                <a:uLnTx/>
                <a:uFillTx/>
                <a:latin typeface="Aptos" panose="02110004020202020204"/>
                <a:ea typeface="+mn-ea"/>
                <a:cs typeface="+mn-cs"/>
              </a:rPr>
              <a:t>order_items</a:t>
            </a:r>
            <a:r>
              <a:rPr kumimoji="0" lang="en-IN" sz="1200" b="1" i="0" u="none" strike="noStrike" kern="1200" cap="none" spc="0" normalizeH="0" baseline="0" noProof="0" dirty="0">
                <a:ln>
                  <a:noFill/>
                </a:ln>
                <a:solidFill>
                  <a:srgbClr val="0E2841">
                    <a:lumMod val="10000"/>
                    <a:lumOff val="90000"/>
                  </a:srgbClr>
                </a:solidFill>
                <a:effectLst/>
                <a:uLnTx/>
                <a:uFillTx/>
                <a:latin typeface="Aptos" panose="02110004020202020204"/>
                <a:ea typeface="+mn-ea"/>
                <a:cs typeface="+mn-cs"/>
              </a:rPr>
              <a:t> to date by </a:t>
            </a:r>
            <a:r>
              <a:rPr kumimoji="0" lang="en-IN" sz="1200" b="1" i="0" u="none" strike="noStrike" kern="1200" cap="none" spc="0" normalizeH="0" baseline="0" noProof="0">
                <a:ln>
                  <a:noFill/>
                </a:ln>
                <a:solidFill>
                  <a:srgbClr val="0E2841">
                    <a:lumMod val="10000"/>
                    <a:lumOff val="90000"/>
                  </a:srgbClr>
                </a:solidFill>
                <a:effectLst/>
                <a:uLnTx/>
                <a:uFillTx/>
                <a:latin typeface="Aptos" panose="02110004020202020204"/>
                <a:ea typeface="+mn-ea"/>
                <a:cs typeface="+mn-cs"/>
              </a:rPr>
              <a:t>date column.</a:t>
            </a:r>
            <a:br>
              <a:rPr kumimoji="0" lang="en-IN" sz="1200" b="1" i="0" u="none" strike="noStrike" kern="1200" cap="none" spc="0" normalizeH="0" baseline="0" noProof="0">
                <a:ln>
                  <a:noFill/>
                </a:ln>
                <a:solidFill>
                  <a:srgbClr val="0E2841">
                    <a:lumMod val="10000"/>
                    <a:lumOff val="90000"/>
                  </a:srgbClr>
                </a:solidFill>
                <a:effectLst/>
                <a:uLnTx/>
                <a:uFillTx/>
                <a:latin typeface="Aptos" panose="02110004020202020204"/>
                <a:ea typeface="+mn-ea"/>
                <a:cs typeface="+mn-cs"/>
              </a:rPr>
            </a:br>
            <a:endParaRPr lang="en-IN" sz="1200" b="1" dirty="0">
              <a:solidFill>
                <a:srgbClr val="92D050"/>
              </a:solidFill>
            </a:endParaRPr>
          </a:p>
          <a:p>
            <a:pPr marL="171450" lvl="0" indent="-171450">
              <a:buFont typeface="Wingdings" panose="05000000000000000000" pitchFamily="2" charset="2"/>
              <a:buChar char="Ø"/>
            </a:pPr>
            <a:r>
              <a:rPr lang="en-IN" sz="1200" b="1" dirty="0">
                <a:solidFill>
                  <a:schemeClr val="tx2">
                    <a:lumMod val="10000"/>
                    <a:lumOff val="90000"/>
                  </a:schemeClr>
                </a:solidFill>
              </a:rPr>
              <a:t>Total Revenue- </a:t>
            </a:r>
            <a:br>
              <a:rPr lang="en-IN" sz="1200" b="1" dirty="0">
                <a:solidFill>
                  <a:schemeClr val="tx2">
                    <a:lumMod val="10000"/>
                    <a:lumOff val="90000"/>
                  </a:schemeClr>
                </a:solidFill>
              </a:rPr>
            </a:br>
            <a:r>
              <a:rPr lang="en-IN" sz="1200" b="1" dirty="0">
                <a:solidFill>
                  <a:schemeClr val="tx2">
                    <a:lumMod val="10000"/>
                    <a:lumOff val="90000"/>
                  </a:schemeClr>
                </a:solidFill>
              </a:rPr>
              <a:t>	Revenue is calculated as -</a:t>
            </a:r>
            <a:r>
              <a:rPr lang="en-IN" b="1" dirty="0">
                <a:solidFill>
                  <a:schemeClr val="tx2">
                    <a:lumMod val="10000"/>
                    <a:lumOff val="90000"/>
                  </a:schemeClr>
                </a:solidFill>
              </a:rPr>
              <a:t>quantity * </a:t>
            </a:r>
            <a:r>
              <a:rPr lang="en-IN" b="1" dirty="0" err="1">
                <a:solidFill>
                  <a:schemeClr val="tx2">
                    <a:lumMod val="10000"/>
                    <a:lumOff val="90000"/>
                  </a:schemeClr>
                </a:solidFill>
              </a:rPr>
              <a:t>org_unitprice-discount_price</a:t>
            </a:r>
            <a:r>
              <a:rPr lang="en-IN" sz="1200" b="1" dirty="0">
                <a:solidFill>
                  <a:schemeClr val="tx2">
                    <a:lumMod val="10000"/>
                    <a:lumOff val="90000"/>
                  </a:schemeClr>
                </a:solidFill>
              </a:rPr>
              <a:t>.</a:t>
            </a:r>
          </a:p>
          <a:p>
            <a:pPr marL="171450" indent="-171450">
              <a:buFont typeface="Wingdings" panose="05000000000000000000" pitchFamily="2" charset="2"/>
              <a:buChar char="Ø"/>
            </a:pPr>
            <a:r>
              <a:rPr lang="en-IN" sz="1200" b="1" dirty="0">
                <a:solidFill>
                  <a:schemeClr val="bg1"/>
                </a:solidFill>
              </a:rPr>
              <a:t>Relationships / </a:t>
            </a:r>
            <a:r>
              <a:rPr lang="en-IN" sz="1200" b="1" dirty="0" err="1">
                <a:solidFill>
                  <a:schemeClr val="bg1"/>
                </a:solidFill>
              </a:rPr>
              <a:t>Modeling</a:t>
            </a:r>
            <a:r>
              <a:rPr lang="en-IN" sz="1200" b="1" dirty="0">
                <a:solidFill>
                  <a:schemeClr val="bg1"/>
                </a:solidFill>
              </a:rPr>
              <a:t> (star </a:t>
            </a:r>
            <a:r>
              <a:rPr lang="en-IN" sz="1200" b="1" dirty="0" err="1">
                <a:solidFill>
                  <a:schemeClr val="bg1"/>
                </a:solidFill>
              </a:rPr>
              <a:t>shcema</a:t>
            </a:r>
            <a:r>
              <a:rPr lang="en-IN" sz="1200" b="1" dirty="0">
                <a:solidFill>
                  <a:schemeClr val="bg1"/>
                </a:solidFill>
              </a:rPr>
              <a:t>)</a:t>
            </a:r>
          </a:p>
          <a:p>
            <a:pPr lvl="0"/>
            <a:r>
              <a:rPr lang="en-IN" sz="1200" b="1" dirty="0">
                <a:solidFill>
                  <a:schemeClr val="bg1"/>
                </a:solidFill>
                <a:effectLst/>
              </a:rPr>
              <a:t>	</a:t>
            </a:r>
            <a:r>
              <a:rPr lang="en-IN" sz="1200" b="1" dirty="0" err="1">
                <a:solidFill>
                  <a:schemeClr val="bg1"/>
                </a:solidFill>
                <a:effectLst/>
              </a:rPr>
              <a:t>Fact_OrderItems</a:t>
            </a:r>
            <a:r>
              <a:rPr lang="en-IN" sz="1200" b="1" dirty="0">
                <a:solidFill>
                  <a:schemeClr val="bg1"/>
                </a:solidFill>
                <a:effectLst/>
              </a:rPr>
              <a:t> → </a:t>
            </a:r>
            <a:r>
              <a:rPr lang="en-IN" sz="1200" b="1" dirty="0" err="1">
                <a:solidFill>
                  <a:schemeClr val="bg1"/>
                </a:solidFill>
                <a:effectLst/>
              </a:rPr>
              <a:t>Dim_Orders</a:t>
            </a:r>
            <a:r>
              <a:rPr lang="en-IN" sz="1200" dirty="0">
                <a:solidFill>
                  <a:schemeClr val="bg1"/>
                </a:solidFill>
                <a:effectLst/>
              </a:rPr>
              <a:t>: join on </a:t>
            </a:r>
            <a:r>
              <a:rPr lang="en-IN" dirty="0" err="1">
                <a:solidFill>
                  <a:schemeClr val="bg1"/>
                </a:solidFill>
              </a:rPr>
              <a:t>order_id</a:t>
            </a:r>
            <a:endParaRPr lang="en-IN" sz="1200" dirty="0">
              <a:solidFill>
                <a:schemeClr val="bg1"/>
              </a:solidFill>
            </a:endParaRPr>
          </a:p>
          <a:p>
            <a:pPr lvl="0"/>
            <a:r>
              <a:rPr lang="en-IN" sz="1200" b="1" dirty="0">
                <a:solidFill>
                  <a:schemeClr val="bg1"/>
                </a:solidFill>
                <a:effectLst/>
              </a:rPr>
              <a:t>	</a:t>
            </a:r>
            <a:r>
              <a:rPr lang="en-IN" sz="1200" b="1" dirty="0" err="1">
                <a:solidFill>
                  <a:schemeClr val="bg1"/>
                </a:solidFill>
                <a:effectLst/>
              </a:rPr>
              <a:t>Fact_OrderItems</a:t>
            </a:r>
            <a:r>
              <a:rPr lang="en-IN" sz="1200" b="1" dirty="0">
                <a:solidFill>
                  <a:schemeClr val="bg1"/>
                </a:solidFill>
                <a:effectLst/>
              </a:rPr>
              <a:t> → </a:t>
            </a:r>
            <a:r>
              <a:rPr lang="en-IN" sz="1200" b="1" dirty="0" err="1">
                <a:solidFill>
                  <a:schemeClr val="bg1"/>
                </a:solidFill>
                <a:effectLst/>
              </a:rPr>
              <a:t>Dim_Products</a:t>
            </a:r>
            <a:r>
              <a:rPr lang="en-IN" sz="1200" dirty="0">
                <a:solidFill>
                  <a:schemeClr val="bg1"/>
                </a:solidFill>
                <a:effectLst/>
              </a:rPr>
              <a:t>: join on </a:t>
            </a:r>
            <a:r>
              <a:rPr lang="en-IN" dirty="0" err="1">
                <a:solidFill>
                  <a:schemeClr val="bg1"/>
                </a:solidFill>
              </a:rPr>
              <a:t>product_id</a:t>
            </a:r>
            <a:endParaRPr lang="en-IN" sz="1200" dirty="0">
              <a:solidFill>
                <a:schemeClr val="bg1"/>
              </a:solidFill>
            </a:endParaRPr>
          </a:p>
          <a:p>
            <a:pPr lvl="0"/>
            <a:r>
              <a:rPr lang="en-IN" sz="1200" b="1" dirty="0">
                <a:solidFill>
                  <a:schemeClr val="bg1"/>
                </a:solidFill>
                <a:effectLst/>
              </a:rPr>
              <a:t>	</a:t>
            </a:r>
            <a:r>
              <a:rPr lang="en-IN" sz="1200" b="1" dirty="0" err="1">
                <a:solidFill>
                  <a:schemeClr val="bg1"/>
                </a:solidFill>
                <a:effectLst/>
              </a:rPr>
              <a:t>Dim_Orders</a:t>
            </a:r>
            <a:r>
              <a:rPr lang="en-IN" sz="1200" b="1" dirty="0">
                <a:solidFill>
                  <a:schemeClr val="bg1"/>
                </a:solidFill>
                <a:effectLst/>
              </a:rPr>
              <a:t> → </a:t>
            </a:r>
            <a:r>
              <a:rPr lang="en-IN" sz="1200" b="1" dirty="0" err="1">
                <a:solidFill>
                  <a:schemeClr val="bg1"/>
                </a:solidFill>
                <a:effectLst/>
              </a:rPr>
              <a:t>Dim_Customers</a:t>
            </a:r>
            <a:r>
              <a:rPr lang="en-IN" sz="1200" dirty="0">
                <a:solidFill>
                  <a:schemeClr val="bg1"/>
                </a:solidFill>
                <a:effectLst/>
              </a:rPr>
              <a:t>: join on </a:t>
            </a:r>
            <a:r>
              <a:rPr lang="en-IN" dirty="0" err="1">
                <a:solidFill>
                  <a:schemeClr val="bg1"/>
                </a:solidFill>
              </a:rPr>
              <a:t>customer_id</a:t>
            </a:r>
            <a:endParaRPr lang="en-IN" sz="1200" dirty="0">
              <a:solidFill>
                <a:schemeClr val="bg1"/>
              </a:solidFill>
            </a:endParaRPr>
          </a:p>
          <a:p>
            <a:pPr lvl="0"/>
            <a:r>
              <a:rPr lang="en-IN" sz="1200" b="1" dirty="0">
                <a:solidFill>
                  <a:schemeClr val="bg1"/>
                </a:solidFill>
                <a:effectLst/>
              </a:rPr>
              <a:t>	</a:t>
            </a:r>
            <a:r>
              <a:rPr lang="en-IN" sz="1200" b="1" dirty="0" err="1">
                <a:solidFill>
                  <a:schemeClr val="bg1"/>
                </a:solidFill>
                <a:effectLst/>
              </a:rPr>
              <a:t>Dim_Ordersitems</a:t>
            </a:r>
            <a:r>
              <a:rPr lang="en-IN" sz="1200" b="1" dirty="0">
                <a:solidFill>
                  <a:schemeClr val="bg1"/>
                </a:solidFill>
                <a:effectLst/>
              </a:rPr>
              <a:t>  → </a:t>
            </a:r>
            <a:r>
              <a:rPr lang="en-IN" sz="1200" b="1" dirty="0" err="1">
                <a:solidFill>
                  <a:schemeClr val="bg1"/>
                </a:solidFill>
                <a:effectLst/>
              </a:rPr>
              <a:t>Dim_Date</a:t>
            </a:r>
            <a:r>
              <a:rPr lang="en-IN" sz="1200" dirty="0">
                <a:solidFill>
                  <a:schemeClr val="bg1"/>
                </a:solidFill>
                <a:effectLst/>
              </a:rPr>
              <a:t>: join on </a:t>
            </a:r>
            <a:r>
              <a:rPr lang="en-IN" dirty="0" err="1">
                <a:solidFill>
                  <a:schemeClr val="bg1"/>
                </a:solidFill>
              </a:rPr>
              <a:t>order_date</a:t>
            </a:r>
            <a:endParaRPr lang="en-IN" sz="1200" dirty="0">
              <a:solidFill>
                <a:schemeClr val="bg1"/>
              </a:solidFill>
            </a:endParaRPr>
          </a:p>
          <a:p>
            <a:r>
              <a:rPr lang="en-IN" sz="1200" dirty="0">
                <a:solidFill>
                  <a:schemeClr val="bg1"/>
                </a:solidFill>
                <a:effectLst/>
              </a:rPr>
              <a:t>	This gives you a clean star shape: </a:t>
            </a:r>
            <a:r>
              <a:rPr lang="en-IN" sz="1200" b="1" dirty="0" err="1">
                <a:solidFill>
                  <a:schemeClr val="bg1"/>
                </a:solidFill>
                <a:effectLst/>
              </a:rPr>
              <a:t>Fact_OrderItems</a:t>
            </a:r>
            <a:r>
              <a:rPr lang="en-IN" sz="1200" b="1" dirty="0">
                <a:solidFill>
                  <a:schemeClr val="bg1"/>
                </a:solidFill>
                <a:effectLst/>
              </a:rPr>
              <a:t> in the </a:t>
            </a:r>
            <a:r>
              <a:rPr lang="en-IN" sz="1200" b="1" dirty="0" err="1">
                <a:solidFill>
                  <a:schemeClr val="bg1"/>
                </a:solidFill>
                <a:effectLst/>
              </a:rPr>
              <a:t>center</a:t>
            </a:r>
            <a:r>
              <a:rPr lang="en-IN" sz="1200" b="1" dirty="0">
                <a:solidFill>
                  <a:schemeClr val="bg1"/>
                </a:solidFill>
                <a:effectLst/>
              </a:rPr>
              <a:t>, surrounded by Customers, Products, Orders, and Date dimensions.</a:t>
            </a:r>
            <a:endParaRPr lang="en-IN" sz="1200" dirty="0">
              <a:solidFill>
                <a:schemeClr val="bg1"/>
              </a:solidFill>
            </a:endParaRPr>
          </a:p>
          <a:p>
            <a:pPr marL="171450" lvl="0" indent="-171450">
              <a:buFont typeface="Wingdings" panose="05000000000000000000" pitchFamily="2" charset="2"/>
              <a:buChar char="Ø"/>
            </a:pPr>
            <a:br>
              <a:rPr lang="en-IN" sz="1200" b="1" dirty="0">
                <a:solidFill>
                  <a:schemeClr val="tx2">
                    <a:lumMod val="10000"/>
                    <a:lumOff val="90000"/>
                  </a:schemeClr>
                </a:solidFill>
              </a:rPr>
            </a:br>
            <a:br>
              <a:rPr lang="en-IN" sz="1200" b="1" dirty="0">
                <a:solidFill>
                  <a:schemeClr val="tx2">
                    <a:lumMod val="10000"/>
                    <a:lumOff val="90000"/>
                  </a:schemeClr>
                </a:solidFill>
              </a:rPr>
            </a:br>
            <a:br>
              <a:rPr lang="en-IN" sz="1200" b="1" dirty="0">
                <a:solidFill>
                  <a:schemeClr val="tx2">
                    <a:lumMod val="10000"/>
                    <a:lumOff val="90000"/>
                  </a:schemeClr>
                </a:solidFill>
              </a:rPr>
            </a:br>
            <a:endParaRPr lang="en-IN" sz="1200" dirty="0">
              <a:solidFill>
                <a:srgbClr val="92D050"/>
              </a:solidFill>
            </a:endParaRPr>
          </a:p>
        </p:txBody>
      </p:sp>
    </p:spTree>
    <p:extLst>
      <p:ext uri="{BB962C8B-B14F-4D97-AF65-F5344CB8AC3E}">
        <p14:creationId xmlns:p14="http://schemas.microsoft.com/office/powerpoint/2010/main" val="4095199307"/>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387</TotalTime>
  <Words>914</Words>
  <Application>Microsoft Office PowerPoint</Application>
  <PresentationFormat>Widescreen</PresentationFormat>
  <Paragraphs>48</Paragraphs>
  <Slides>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Aptos</vt:lpstr>
      <vt:lpstr>Aptos Display</vt:lpstr>
      <vt:lpstr>Arial</vt:lpstr>
      <vt:lpstr>Century Gothic</vt:lpstr>
      <vt:lpstr>Inter</vt:lpstr>
      <vt:lpstr>Lato Black</vt:lpstr>
      <vt:lpstr>Segoe UI Semibold</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 Hemanth kumar</dc:creator>
  <cp:lastModifiedBy>B Hemanth kumar</cp:lastModifiedBy>
  <cp:revision>1</cp:revision>
  <dcterms:created xsi:type="dcterms:W3CDTF">2026-09-18T11:19:55Z</dcterms:created>
  <dcterms:modified xsi:type="dcterms:W3CDTF">2026-09-19T10:03:50Z</dcterms:modified>
</cp:coreProperties>
</file>